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3"/>
    <p:sldId id="258" r:id="rId4"/>
    <p:sldId id="257" r:id="rId5"/>
    <p:sldId id="259" r:id="rId6"/>
    <p:sldId id="273" r:id="rId7"/>
    <p:sldId id="274" r:id="rId8"/>
  </p:sldIdLst>
  <p:sldSz cx="12192000" cy="6858000"/>
  <p:notesSz cx="6858000" cy="9144000"/>
  <p:custDataLst>
    <p:tags r:id="rId1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87" d="100"/>
          <a:sy n="87" d="100"/>
        </p:scale>
        <p:origin x="40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gs" Target="tags/tag3.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2E6E7715-049E-47C4-9A76-BFA3BC48AA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E6E7715-049E-47C4-9A76-BFA3BC48AA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E6E7715-049E-47C4-9A76-BFA3BC48AA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2E6E7715-049E-47C4-9A76-BFA3BC48AAF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2E6E7715-049E-47C4-9A76-BFA3BC48AAF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2E6E7715-049E-47C4-9A76-BFA3BC48AAF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6E7715-049E-47C4-9A76-BFA3BC48AAF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E6E7715-049E-47C4-9A76-BFA3BC48AAF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E6E7715-049E-47C4-9A76-BFA3BC48AAF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E6E7715-049E-47C4-9A76-BFA3BC48AA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E6E7715-049E-47C4-9A76-BFA3BC48AAF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860BA8-B9F4-416D-A6F5-CBD7EB4937C4}"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E7715-049E-47C4-9A76-BFA3BC48AAFF}"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860BA8-B9F4-416D-A6F5-CBD7EB4937C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406400"/>
            <a:ext cx="9144000" cy="2387600"/>
          </a:xfrm>
        </p:spPr>
        <p:txBody>
          <a:bodyPr>
            <a:normAutofit/>
          </a:bodyPr>
          <a:lstStyle/>
          <a:p>
            <a:r>
              <a:rPr lang="en-US" altLang="en-US" sz="3200" b="1" dirty="0">
                <a:latin typeface="Times New Roman" panose="02020603050405020304" pitchFamily="18" charset="0"/>
                <a:cs typeface="Times New Roman" panose="02020603050405020304" pitchFamily="18" charset="0"/>
              </a:rPr>
              <a:t>Cloud Computing in Banking and Finance</a:t>
            </a:r>
            <a:endParaRPr lang="en-US" altLang="en-US" sz="3200"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083292"/>
            <a:ext cx="9144000" cy="1655762"/>
          </a:xfrm>
        </p:spPr>
        <p:txBody>
          <a:bodyPr/>
          <a:lstStyle/>
          <a:p>
            <a:r>
              <a:rPr lang="en-US" b="1" dirty="0">
                <a:latin typeface="Times New Roman" panose="02020603050405020304" pitchFamily="18" charset="0"/>
                <a:cs typeface="Times New Roman" panose="02020603050405020304" pitchFamily="18" charset="0"/>
              </a:rPr>
              <a:t>CSA 1521-CLOUD COMPUTING</a:t>
            </a:r>
            <a:endParaRPr lang="en-US"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242276" y="189279"/>
            <a:ext cx="1016000" cy="1327150"/>
          </a:xfrm>
          <a:prstGeom prst="rect">
            <a:avLst/>
          </a:prstGeom>
        </p:spPr>
      </p:pic>
      <p:pic>
        <p:nvPicPr>
          <p:cNvPr id="5" name="Picture 4"/>
          <p:cNvPicPr>
            <a:picLocks noChangeAspect="1"/>
          </p:cNvPicPr>
          <p:nvPr/>
        </p:nvPicPr>
        <p:blipFill>
          <a:blip r:embed="rId2"/>
          <a:stretch>
            <a:fillRect/>
          </a:stretch>
        </p:blipFill>
        <p:spPr>
          <a:xfrm>
            <a:off x="10792313" y="189279"/>
            <a:ext cx="1263650" cy="1263650"/>
          </a:xfrm>
          <a:prstGeom prst="rect">
            <a:avLst/>
          </a:prstGeom>
        </p:spPr>
      </p:pic>
      <p:sp>
        <p:nvSpPr>
          <p:cNvPr id="6" name="TextBox 5"/>
          <p:cNvSpPr txBox="1"/>
          <p:nvPr/>
        </p:nvSpPr>
        <p:spPr>
          <a:xfrm>
            <a:off x="9047285" y="4739054"/>
            <a:ext cx="2584938" cy="954107"/>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Presented by </a:t>
            </a:r>
            <a:endParaRPr lang="en-US" sz="2800" b="1" dirty="0">
              <a:latin typeface="Times New Roman" panose="02020603050405020304" pitchFamily="18" charset="0"/>
              <a:cs typeface="Times New Roman" panose="02020603050405020304" pitchFamily="18" charset="0"/>
            </a:endParaRPr>
          </a:p>
          <a:p>
            <a:r>
              <a:rPr lang="en-US" sz="2800" dirty="0" err="1">
                <a:latin typeface="Times New Roman" panose="02020603050405020304" pitchFamily="18" charset="0"/>
                <a:cs typeface="Times New Roman" panose="02020603050405020304" pitchFamily="18" charset="0"/>
              </a:rPr>
              <a:t>K.Mahesh</a:t>
            </a:r>
            <a:r>
              <a:rPr lang="en-US" sz="2800" dirty="0">
                <a:latin typeface="Times New Roman" panose="02020603050405020304" pitchFamily="18" charset="0"/>
                <a:cs typeface="Times New Roman" panose="02020603050405020304" pitchFamily="18" charset="0"/>
              </a:rPr>
              <a:t>  Babu</a:t>
            </a:r>
            <a:endParaRPr lang="en-US" sz="28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052195" y="4800600"/>
            <a:ext cx="4129405" cy="1031875"/>
          </a:xfrm>
          <a:prstGeom prst="rect">
            <a:avLst/>
          </a:prstGeom>
          <a:noFill/>
        </p:spPr>
        <p:txBody>
          <a:bodyPr wrap="square" rtlCol="0">
            <a:noAutofit/>
          </a:bodyPr>
          <a:lstStyle/>
          <a:p>
            <a:r>
              <a:rPr lang="en-US" sz="2400" b="1" dirty="0">
                <a:latin typeface="Times New Roman" panose="02020603050405020304" pitchFamily="18" charset="0"/>
                <a:cs typeface="Times New Roman" panose="02020603050405020304" pitchFamily="18" charset="0"/>
              </a:rPr>
              <a:t>GUIDED BY </a:t>
            </a:r>
            <a:endParaRPr lang="en-US" sz="2400" b="1"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Dr.K SANTHIYA LAKSHMI</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5791" y="3654742"/>
            <a:ext cx="9144000" cy="2387600"/>
          </a:xfrm>
        </p:spPr>
        <p:txBody>
          <a:bodyPr>
            <a:noAutofit/>
          </a:bodyPr>
          <a:lstStyle/>
          <a:p>
            <a:pPr marL="0" indent="0" algn="l">
              <a:lnSpc>
                <a:spcPct val="150000"/>
              </a:lnSpc>
              <a:buFont typeface="Arial" panose="020B0604020202020204" pitchFamily="34" charset="0"/>
            </a:pPr>
            <a:r>
              <a:rPr lang="en-US" altLang="en-US" sz="2000" b="1" dirty="0">
                <a:latin typeface="Times New Roman" panose="02020603050405020304" pitchFamily="18" charset="0"/>
                <a:cs typeface="Times New Roman" panose="02020603050405020304" pitchFamily="18" charset="0"/>
              </a:rPr>
              <a:t>1.Identify the Problem</a:t>
            </a:r>
            <a:br>
              <a:rPr lang="en-US" altLang="en-US" sz="2000" b="1"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Understand the need for faster, secure, and cost-effective banking services.</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2.</a:t>
            </a:r>
            <a:r>
              <a:rPr lang="en-US" altLang="en-US" sz="2000" b="1" dirty="0">
                <a:latin typeface="Times New Roman" panose="02020603050405020304" pitchFamily="18" charset="0"/>
                <a:cs typeface="Times New Roman" panose="02020603050405020304" pitchFamily="18" charset="0"/>
              </a:rPr>
              <a:t>Study Cloud Computing</a:t>
            </a:r>
            <a:br>
              <a:rPr lang="en-US" altLang="en-US" sz="2000" b="1"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Learn about cloud service models (IaaS, PaaS, SaaS) and their features.</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3.</a:t>
            </a:r>
            <a:r>
              <a:rPr lang="en-US" altLang="en-US" sz="2000" b="1" dirty="0">
                <a:latin typeface="Times New Roman" panose="02020603050405020304" pitchFamily="18" charset="0"/>
                <a:cs typeface="Times New Roman" panose="02020603050405020304" pitchFamily="18" charset="0"/>
              </a:rPr>
              <a:t>Analyse Banking Applications</a:t>
            </a:r>
            <a:br>
              <a:rPr lang="en-US" altLang="en-US" sz="2000" b="1"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Examine how cloud computing is used in online banking, mobile banking, digital payments, loan processing, and fraud detection.</a:t>
            </a:r>
            <a:br>
              <a:rPr lang="en-US" altLang="en-US" sz="2000"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4.</a:t>
            </a:r>
            <a:r>
              <a:rPr lang="en-US" altLang="en-US" sz="2000" b="1" dirty="0">
                <a:latin typeface="Times New Roman" panose="02020603050405020304" pitchFamily="18" charset="0"/>
                <a:cs typeface="Times New Roman" panose="02020603050405020304" pitchFamily="18" charset="0"/>
              </a:rPr>
              <a:t>Evaluate Benefits and Challenges</a:t>
            </a:r>
            <a:br>
              <a:rPr lang="en-US" altLang="en-US" sz="2000" b="1" dirty="0">
                <a:latin typeface="Times New Roman" panose="02020603050405020304" pitchFamily="18" charset="0"/>
                <a:cs typeface="Times New Roman" panose="02020603050405020304" pitchFamily="18" charset="0"/>
              </a:rPr>
            </a:br>
            <a:r>
              <a:rPr lang="en-US" altLang="en-US" sz="2000" dirty="0">
                <a:latin typeface="Times New Roman" panose="02020603050405020304" pitchFamily="18" charset="0"/>
                <a:cs typeface="Times New Roman" panose="02020603050405020304" pitchFamily="18" charset="0"/>
              </a:rPr>
              <a:t>�⁠Compare advantages (security, scalability, lower cost) with challenges (cybersecurity, privacy, compliance).</a:t>
            </a:r>
            <a:endParaRPr lang="en-US" altLang="en-US" sz="20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242276" y="189279"/>
            <a:ext cx="1016000" cy="1327150"/>
          </a:xfrm>
          <a:prstGeom prst="rect">
            <a:avLst/>
          </a:prstGeom>
        </p:spPr>
      </p:pic>
      <p:pic>
        <p:nvPicPr>
          <p:cNvPr id="9" name="Picture 8"/>
          <p:cNvPicPr>
            <a:picLocks noChangeAspect="1"/>
          </p:cNvPicPr>
          <p:nvPr/>
        </p:nvPicPr>
        <p:blipFill>
          <a:blip r:embed="rId2"/>
          <a:stretch>
            <a:fillRect/>
          </a:stretch>
        </p:blipFill>
        <p:spPr>
          <a:xfrm>
            <a:off x="10792313" y="189279"/>
            <a:ext cx="1263650" cy="1263650"/>
          </a:xfrm>
          <a:prstGeom prst="rect">
            <a:avLst/>
          </a:prstGeom>
        </p:spPr>
      </p:pic>
      <p:sp>
        <p:nvSpPr>
          <p:cNvPr id="3" name="Text Box 2"/>
          <p:cNvSpPr txBox="1"/>
          <p:nvPr/>
        </p:nvSpPr>
        <p:spPr>
          <a:xfrm>
            <a:off x="2305685" y="509905"/>
            <a:ext cx="6703060" cy="685800"/>
          </a:xfrm>
          <a:prstGeom prst="rect">
            <a:avLst/>
          </a:prstGeom>
        </p:spPr>
        <p:txBody>
          <a:bodyPr>
            <a:noAutofit/>
          </a:bodyPr>
          <a:p>
            <a:r>
              <a:rPr lang="en-US" sz="3200" b="1">
                <a:latin typeface="Times New Roman" panose="02020603050405020304" pitchFamily="18" charset="0"/>
                <a:cs typeface="Times New Roman" panose="02020603050405020304" pitchFamily="18" charset="0"/>
              </a:rPr>
              <a:t>METHODOLOGY</a:t>
            </a:r>
            <a:endParaRPr lang="en-US" sz="3200" b="1">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1261" y="3428899"/>
            <a:ext cx="9144000" cy="2387600"/>
          </a:xfrm>
        </p:spPr>
        <p:txBody>
          <a:bodyPr>
            <a:noAutofit/>
          </a:bodyPr>
          <a:lstStyle/>
          <a:p>
            <a:pPr marL="0" indent="0" algn="l">
              <a:lnSpc>
                <a:spcPct val="150000"/>
              </a:lnSpc>
              <a:buFont typeface="Arial" panose="020B0604020202020204" pitchFamily="34" charset="0"/>
            </a:pPr>
            <a:r>
              <a:rPr lang="en-US" altLang="en-US" sz="2800" dirty="0">
                <a:latin typeface="Times New Roman" panose="02020603050405020304" pitchFamily="18" charset="0"/>
                <a:cs typeface="Times New Roman" panose="02020603050405020304" pitchFamily="18" charset="0"/>
              </a:rPr>
              <a:t>1.Cloud computing delivers computing services over the internet.</a:t>
            </a:r>
            <a:br>
              <a:rPr lang="en-US" altLang="en-US" sz="2800" dirty="0">
                <a:latin typeface="Times New Roman" panose="02020603050405020304" pitchFamily="18" charset="0"/>
                <a:cs typeface="Times New Roman" panose="02020603050405020304" pitchFamily="18" charset="0"/>
              </a:rPr>
            </a:br>
            <a:r>
              <a:rPr lang="en-US" altLang="en-US" sz="2800" dirty="0">
                <a:latin typeface="Times New Roman" panose="02020603050405020304" pitchFamily="18" charset="0"/>
                <a:cs typeface="Times New Roman" panose="02020603050405020304" pitchFamily="18" charset="0"/>
              </a:rPr>
              <a:t>2.Banks use cloud platforms to store, process, and manage financial data.</a:t>
            </a:r>
            <a:br>
              <a:rPr lang="en-US" altLang="en-US" sz="2800" dirty="0">
                <a:latin typeface="Times New Roman" panose="02020603050405020304" pitchFamily="18" charset="0"/>
                <a:cs typeface="Times New Roman" panose="02020603050405020304" pitchFamily="18" charset="0"/>
              </a:rPr>
            </a:br>
            <a:r>
              <a:rPr lang="en-US" altLang="en-US" sz="2800" dirty="0">
                <a:latin typeface="Times New Roman" panose="02020603050405020304" pitchFamily="18" charset="0"/>
                <a:cs typeface="Times New Roman" panose="02020603050405020304" pitchFamily="18" charset="0"/>
              </a:rPr>
              <a:t>3.It provides secure, scalable, and cost-effective services.</a:t>
            </a:r>
            <a:br>
              <a:rPr lang="en-US" altLang="en-US" sz="2800" dirty="0">
                <a:latin typeface="Times New Roman" panose="02020603050405020304" pitchFamily="18" charset="0"/>
                <a:cs typeface="Times New Roman" panose="02020603050405020304" pitchFamily="18" charset="0"/>
              </a:rPr>
            </a:br>
            <a:r>
              <a:rPr lang="en-US" altLang="en-US" sz="2800" b="1" dirty="0">
                <a:latin typeface="Times New Roman" panose="02020603050405020304" pitchFamily="18" charset="0"/>
                <a:cs typeface="Times New Roman" panose="02020603050405020304" pitchFamily="18" charset="0"/>
              </a:rPr>
              <a:t>Examples:</a:t>
            </a:r>
            <a:r>
              <a:rPr lang="en-US" altLang="en-US" sz="2800" dirty="0">
                <a:latin typeface="Times New Roman" panose="02020603050405020304" pitchFamily="18" charset="0"/>
                <a:cs typeface="Times New Roman" panose="02020603050405020304" pitchFamily="18" charset="0"/>
              </a:rPr>
              <a:t> Internet banking, Mobile banking, Digital wallets.</a:t>
            </a:r>
            <a:endParaRPr lang="en-US" altLang="en-US" sz="28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242276" y="189279"/>
            <a:ext cx="1016000" cy="1327150"/>
          </a:xfrm>
          <a:prstGeom prst="rect">
            <a:avLst/>
          </a:prstGeom>
        </p:spPr>
      </p:pic>
      <p:pic>
        <p:nvPicPr>
          <p:cNvPr id="11" name="Picture 10"/>
          <p:cNvPicPr>
            <a:picLocks noChangeAspect="1"/>
          </p:cNvPicPr>
          <p:nvPr/>
        </p:nvPicPr>
        <p:blipFill>
          <a:blip r:embed="rId2"/>
          <a:stretch>
            <a:fillRect/>
          </a:stretch>
        </p:blipFill>
        <p:spPr>
          <a:xfrm>
            <a:off x="10792313" y="189279"/>
            <a:ext cx="1263650" cy="1263650"/>
          </a:xfrm>
          <a:prstGeom prst="rect">
            <a:avLst/>
          </a:prstGeom>
        </p:spPr>
      </p:pic>
      <p:sp>
        <p:nvSpPr>
          <p:cNvPr id="4" name="TextBox 3"/>
          <p:cNvSpPr txBox="1"/>
          <p:nvPr/>
        </p:nvSpPr>
        <p:spPr>
          <a:xfrm>
            <a:off x="1630436" y="726650"/>
            <a:ext cx="6097464" cy="583565"/>
          </a:xfrm>
          <a:prstGeom prst="rect">
            <a:avLst/>
          </a:prstGeom>
          <a:noFill/>
        </p:spPr>
        <p:txBody>
          <a:bodyPr wrap="square">
            <a:spAutoFit/>
          </a:bodyPr>
          <a:lstStyle/>
          <a:p>
            <a:r>
              <a:rPr lang="en-US" altLang="en-US" sz="3200" b="1" dirty="0">
                <a:latin typeface="Times New Roman" panose="02020603050405020304" pitchFamily="18" charset="0"/>
                <a:cs typeface="Times New Roman" panose="02020603050405020304" pitchFamily="18" charset="0"/>
              </a:rPr>
              <a:t>What is Cloud Computing?</a:t>
            </a:r>
            <a:endParaRPr lang="en-US" altLang="en-US"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746" y="2986332"/>
            <a:ext cx="9144000" cy="2387600"/>
          </a:xfrm>
        </p:spPr>
        <p:txBody>
          <a:bodyPr>
            <a:noAutofit/>
          </a:bodyPr>
          <a:lstStyle/>
          <a:p>
            <a:pPr algn="l"/>
            <a:r>
              <a:rPr lang="en-US" altLang="en-US" sz="3600" dirty="0">
                <a:latin typeface="Times New Roman" panose="02020603050405020304" pitchFamily="18" charset="0"/>
                <a:cs typeface="Times New Roman" panose="02020603050405020304" pitchFamily="18" charset="0"/>
              </a:rPr>
              <a:t>1. </a:t>
            </a:r>
            <a:r>
              <a:rPr lang="en-US" altLang="en-US" sz="3600" b="1" dirty="0">
                <a:latin typeface="Times New Roman" panose="02020603050405020304" pitchFamily="18" charset="0"/>
                <a:cs typeface="Times New Roman" panose="02020603050405020304" pitchFamily="18" charset="0"/>
              </a:rPr>
              <a:t>Infrastructure as a Service</a:t>
            </a:r>
            <a:r>
              <a:rPr lang="en-US" altLang="en-US" sz="3600" dirty="0">
                <a:latin typeface="Times New Roman" panose="02020603050405020304" pitchFamily="18" charset="0"/>
                <a:cs typeface="Times New Roman" panose="02020603050405020304" pitchFamily="18" charset="0"/>
              </a:rPr>
              <a:t> (IaaS)</a:t>
            </a:r>
            <a:br>
              <a:rPr lang="en-US" altLang="en-US" sz="3600" dirty="0">
                <a:latin typeface="Times New Roman" panose="02020603050405020304" pitchFamily="18" charset="0"/>
                <a:cs typeface="Times New Roman" panose="02020603050405020304" pitchFamily="18" charset="0"/>
              </a:rPr>
            </a:br>
            <a:r>
              <a:rPr lang="en-US" altLang="en-US" sz="3600" dirty="0">
                <a:latin typeface="Times New Roman" panose="02020603050405020304" pitchFamily="18" charset="0"/>
                <a:cs typeface="Times New Roman" panose="02020603050405020304" pitchFamily="18" charset="0"/>
              </a:rPr>
              <a:t>Virtual servers and storage.</a:t>
            </a:r>
            <a:br>
              <a:rPr lang="en-US" altLang="en-US" sz="3600" dirty="0">
                <a:latin typeface="Times New Roman" panose="02020603050405020304" pitchFamily="18" charset="0"/>
                <a:cs typeface="Times New Roman" panose="02020603050405020304" pitchFamily="18" charset="0"/>
              </a:rPr>
            </a:br>
            <a:r>
              <a:rPr lang="en-US" altLang="en-US" sz="3600" dirty="0">
                <a:latin typeface="Times New Roman" panose="02020603050405020304" pitchFamily="18" charset="0"/>
                <a:cs typeface="Times New Roman" panose="02020603050405020304" pitchFamily="18" charset="0"/>
              </a:rPr>
              <a:t>2.</a:t>
            </a:r>
            <a:r>
              <a:rPr lang="en-US" altLang="en-US" sz="3600" b="1" dirty="0">
                <a:latin typeface="Times New Roman" panose="02020603050405020304" pitchFamily="18" charset="0"/>
                <a:cs typeface="Times New Roman" panose="02020603050405020304" pitchFamily="18" charset="0"/>
              </a:rPr>
              <a:t> Platform as a Service</a:t>
            </a:r>
            <a:r>
              <a:rPr lang="en-US" altLang="en-US" sz="3600" dirty="0">
                <a:latin typeface="Times New Roman" panose="02020603050405020304" pitchFamily="18" charset="0"/>
                <a:cs typeface="Times New Roman" panose="02020603050405020304" pitchFamily="18" charset="0"/>
              </a:rPr>
              <a:t> (PaaS)</a:t>
            </a:r>
            <a:br>
              <a:rPr lang="en-US" altLang="en-US" sz="3600" dirty="0">
                <a:latin typeface="Times New Roman" panose="02020603050405020304" pitchFamily="18" charset="0"/>
                <a:cs typeface="Times New Roman" panose="02020603050405020304" pitchFamily="18" charset="0"/>
              </a:rPr>
            </a:br>
            <a:r>
              <a:rPr lang="en-US" altLang="en-US" sz="3600" dirty="0">
                <a:latin typeface="Times New Roman" panose="02020603050405020304" pitchFamily="18" charset="0"/>
                <a:cs typeface="Times New Roman" panose="02020603050405020304" pitchFamily="18" charset="0"/>
              </a:rPr>
              <a:t>Platform for developing banking applications.</a:t>
            </a:r>
            <a:br>
              <a:rPr lang="en-US" altLang="en-US" sz="3600" dirty="0">
                <a:latin typeface="Times New Roman" panose="02020603050405020304" pitchFamily="18" charset="0"/>
                <a:cs typeface="Times New Roman" panose="02020603050405020304" pitchFamily="18" charset="0"/>
              </a:rPr>
            </a:br>
            <a:r>
              <a:rPr lang="en-US" altLang="en-US" sz="3600" dirty="0">
                <a:latin typeface="Times New Roman" panose="02020603050405020304" pitchFamily="18" charset="0"/>
                <a:cs typeface="Times New Roman" panose="02020603050405020304" pitchFamily="18" charset="0"/>
              </a:rPr>
              <a:t>3. </a:t>
            </a:r>
            <a:r>
              <a:rPr lang="en-US" altLang="en-US" sz="3600" b="1" dirty="0">
                <a:latin typeface="Times New Roman" panose="02020603050405020304" pitchFamily="18" charset="0"/>
                <a:cs typeface="Times New Roman" panose="02020603050405020304" pitchFamily="18" charset="0"/>
              </a:rPr>
              <a:t>Software as a Service </a:t>
            </a:r>
            <a:r>
              <a:rPr lang="en-US" altLang="en-US" sz="3600" dirty="0">
                <a:latin typeface="Times New Roman" panose="02020603050405020304" pitchFamily="18" charset="0"/>
                <a:cs typeface="Times New Roman" panose="02020603050405020304" pitchFamily="18" charset="0"/>
              </a:rPr>
              <a:t>(SaaS)</a:t>
            </a:r>
            <a:br>
              <a:rPr lang="en-US" altLang="en-US" sz="3600" dirty="0">
                <a:latin typeface="Times New Roman" panose="02020603050405020304" pitchFamily="18" charset="0"/>
                <a:cs typeface="Times New Roman" panose="02020603050405020304" pitchFamily="18" charset="0"/>
              </a:rPr>
            </a:br>
            <a:r>
              <a:rPr lang="en-US" altLang="en-US" sz="3600" dirty="0">
                <a:latin typeface="Times New Roman" panose="02020603050405020304" pitchFamily="18" charset="0"/>
                <a:cs typeface="Times New Roman" panose="02020603050405020304" pitchFamily="18" charset="0"/>
              </a:rPr>
              <a:t>Ready-to-use banking software through the internet.</a:t>
            </a:r>
            <a:endParaRPr lang="en-US" altLang="en-US" sz="36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3047268" y="518719"/>
            <a:ext cx="6097464" cy="583565"/>
          </a:xfrm>
          <a:prstGeom prst="rect">
            <a:avLst/>
          </a:prstGeom>
          <a:noFill/>
        </p:spPr>
        <p:txBody>
          <a:bodyPr wrap="square">
            <a:spAutoFit/>
          </a:bodyPr>
          <a:lstStyle/>
          <a:p>
            <a:r>
              <a:rPr lang="en-US" altLang="en-US" sz="3200" b="1" dirty="0">
                <a:latin typeface="Times New Roman" panose="02020603050405020304" pitchFamily="18" charset="0"/>
                <a:cs typeface="Times New Roman" panose="02020603050405020304" pitchFamily="18" charset="0"/>
              </a:rPr>
              <a:t>Cloud Service Models</a:t>
            </a:r>
            <a:endParaRPr lang="en-US" altLang="en-US" sz="3200" b="1"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
          <a:stretch>
            <a:fillRect/>
          </a:stretch>
        </p:blipFill>
        <p:spPr>
          <a:xfrm>
            <a:off x="242276" y="189279"/>
            <a:ext cx="1016000" cy="1327150"/>
          </a:xfrm>
          <a:prstGeom prst="rect">
            <a:avLst/>
          </a:prstGeom>
        </p:spPr>
      </p:pic>
      <p:pic>
        <p:nvPicPr>
          <p:cNvPr id="9" name="Picture 8"/>
          <p:cNvPicPr>
            <a:picLocks noChangeAspect="1"/>
          </p:cNvPicPr>
          <p:nvPr/>
        </p:nvPicPr>
        <p:blipFill>
          <a:blip r:embed="rId2"/>
          <a:stretch>
            <a:fillRect/>
          </a:stretch>
        </p:blipFill>
        <p:spPr>
          <a:xfrm>
            <a:off x="10792313" y="189279"/>
            <a:ext cx="1263650" cy="12636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616325" y="365125"/>
            <a:ext cx="10515600" cy="1325563"/>
          </a:xfrm>
        </p:spPr>
        <p:txBody>
          <a:bodyPr/>
          <a:p>
            <a:r>
              <a:rPr lang="en-US" altLang="en-US" sz="3600" b="1">
                <a:latin typeface="Times New Roman" panose="02020603050405020304" pitchFamily="18" charset="0"/>
                <a:cs typeface="Times New Roman" panose="02020603050405020304" pitchFamily="18" charset="0"/>
              </a:rPr>
              <a:t>Conclusion</a:t>
            </a:r>
            <a:endParaRPr lang="en-US" altLang="en-US" sz="36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r>
              <a:rPr lang="en-US" altLang="en-US">
                <a:latin typeface="Times New Roman" panose="02020603050405020304" pitchFamily="18" charset="0"/>
                <a:cs typeface="Times New Roman" panose="02020603050405020304" pitchFamily="18" charset="0"/>
              </a:rPr>
              <a:t>Cloud computing has become a key technology in the banking and finance sector. It helps banks provide faster, secure, and reliable services while reducing operational costs. With features such as data storage, real-time transactions, disaster recovery, and AI-based fraud detection, cloud computing improves both customer experience and business efficiency. Although challenges like cybersecurity and data privacy remain, adopting strong security measures can minimize these risks. In the future, cloud computing will continue to drive innovation in banking through AI, blockchain, and digital financial services.</a:t>
            </a:r>
            <a:endParaRPr lang="en-US" altLang="en-US">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stretch>
            <a:fillRect/>
          </a:stretch>
        </p:blipFill>
        <p:spPr>
          <a:xfrm>
            <a:off x="242276" y="189279"/>
            <a:ext cx="1016000" cy="1327150"/>
          </a:xfrm>
          <a:prstGeom prst="rect">
            <a:avLst/>
          </a:prstGeom>
        </p:spPr>
      </p:pic>
      <p:pic>
        <p:nvPicPr>
          <p:cNvPr id="6" name="Picture 5"/>
          <p:cNvPicPr>
            <a:picLocks noChangeAspect="1"/>
          </p:cNvPicPr>
          <p:nvPr/>
        </p:nvPicPr>
        <p:blipFill>
          <a:blip r:embed="rId2"/>
          <a:stretch>
            <a:fillRect/>
          </a:stretch>
        </p:blipFill>
        <p:spPr>
          <a:xfrm>
            <a:off x="10792313" y="189279"/>
            <a:ext cx="1263650" cy="126365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600">
                <a:latin typeface="Times New Roman" panose="02020603050405020304" pitchFamily="18" charset="0"/>
                <a:cs typeface="Times New Roman" panose="02020603050405020304" pitchFamily="18" charset="0"/>
              </a:rPr>
              <a:t>REFERENCES</a:t>
            </a:r>
            <a:endParaRPr lang="en-US" sz="36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p>
            <a:r>
              <a:rPr lang="en-US" altLang="en-US">
                <a:latin typeface="Times New Roman" panose="02020603050405020304" pitchFamily="18" charset="0"/>
                <a:cs typeface="Times New Roman" panose="02020603050405020304" pitchFamily="18" charset="0"/>
              </a:rPr>
              <a:t>Rajkumar Buyya, James Broberg, and Andrzej Goscinski – Cloud Computing: Principles and Paradigms</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Thomas Erl, Ricardo Puttini, and Zaigham Mahmood – Cloud Computing: Concepts, Technology &amp; Architecture</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Kai Hwang, Geoffrey C. Fox, and Jack J. Dongarra – Distributed and Cloud Computing: From Parallel Processing to the Internet of Things</a:t>
            </a:r>
            <a:endParaRPr lang="en-US" altLang="en-US">
              <a:latin typeface="Times New Roman" panose="02020603050405020304" pitchFamily="18" charset="0"/>
              <a:cs typeface="Times New Roman" panose="02020603050405020304" pitchFamily="18" charset="0"/>
            </a:endParaRPr>
          </a:p>
          <a:p>
            <a:r>
              <a:rPr lang="en-US" altLang="en-US">
                <a:latin typeface="Times New Roman" panose="02020603050405020304" pitchFamily="18" charset="0"/>
                <a:cs typeface="Times New Roman" panose="02020603050405020304" pitchFamily="18" charset="0"/>
              </a:rPr>
              <a:t>Michael Miller – Cloud Computing: Web-Based Applications That Change the Way You Work and Collaborate Online</a:t>
            </a:r>
            <a:endParaRPr lang="en-US" altLang="en-US">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wm#"/>
  <p:tag name="KSO_WM_TEMPLATE_CATEGORY" val="diagram"/>
  <p:tag name="KSO_WM_TEMPLATE_INDEX" val="20238351"/>
</p:tagLst>
</file>

<file path=ppt/tags/tag2.xml><?xml version="1.0" encoding="utf-8"?>
<p:tagLst xmlns:p="http://schemas.openxmlformats.org/presentationml/2006/main">
  <p:tag name="KSO_WM_BEAUTIFY_FLAG" val="#wm#"/>
  <p:tag name="KSO_WM_TEMPLATE_CATEGORY" val="diagram"/>
  <p:tag name="KSO_WM_TEMPLATE_INDEX" val="20238351"/>
</p:tagLst>
</file>

<file path=ppt/tags/tag3.xml><?xml version="1.0" encoding="utf-8"?>
<p:tagLst xmlns:p="http://schemas.openxmlformats.org/presentationml/2006/main">
  <p:tag name="resource_record_key" val="{&quot;70&quot;:[3325731,3325510,3321786,332395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2236</Words>
  <Application>WPS Presentation</Application>
  <PresentationFormat>Widescreen</PresentationFormat>
  <Paragraphs>33</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Times New Roman</vt:lpstr>
      <vt:lpstr>Microsoft YaHei</vt:lpstr>
      <vt:lpstr>Arial Unicode MS</vt:lpstr>
      <vt:lpstr>Calibri Light</vt:lpstr>
      <vt:lpstr>Calibri</vt:lpstr>
      <vt:lpstr>Office Theme</vt:lpstr>
      <vt:lpstr>Cloud Computing in Banking and Finance</vt:lpstr>
      <vt:lpstr>1.Faster banking services 2.Lower operational costs 3.Secure customer data 4.Easy access from anywhere 5.Quick software updates 6.Supports digital transformation</vt:lpstr>
      <vt:lpstr>1.Cloud computing delivers computing services over the internet. 2.Banks use cloud platforms to store, process, and manage financial data. 3.It provides secure, scalable, and cost-effective services. Examples: Internet banking, Mobile banking, Digital wallets.</vt:lpstr>
      <vt:lpstr>1. Infrastructure as a Service (IaaS) Virtual servers and storage. 2. Platform as a Service (PaaS) Platform for developing banking applications. 3. Software as a Service (SaaS) Ready-to-use banking software through the internet.</vt:lpstr>
      <vt:lpstr>Conclusion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Mahesh babu Korapala</dc:creator>
  <cp:lastModifiedBy>WPS_1784822243</cp:lastModifiedBy>
  <cp:revision>5</cp:revision>
  <dcterms:created xsi:type="dcterms:W3CDTF">2026-06-22T18:27:00Z</dcterms:created>
  <dcterms:modified xsi:type="dcterms:W3CDTF">2026-07-25T04:53:30Z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0A1D2DA4EDD949C0A260FD23E1995EDE_13</vt:lpwstr>
  </property>
</Properties>
</file>